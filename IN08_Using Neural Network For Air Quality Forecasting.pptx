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72" r:id="rId5"/>
    <p:sldId id="263" r:id="rId6"/>
    <p:sldId id="262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58" y="118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5FAA3C-E79E-4853-B15E-C50FED148E7A}" type="doc">
      <dgm:prSet loTypeId="urn:microsoft.com/office/officeart/2005/8/layout/funnel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TW" altLang="en-US"/>
        </a:p>
      </dgm:t>
    </dgm:pt>
    <dgm:pt modelId="{12589DDB-DF07-4564-B2E8-6F0E8448E68D}">
      <dgm:prSet phldrT="[文字]" custT="1"/>
      <dgm:spPr/>
      <dgm:t>
        <a:bodyPr/>
        <a:lstStyle/>
        <a:p>
          <a:pPr algn="ctr"/>
          <a:r>
            <a:rPr lang="en-US" altLang="zh-TW" sz="2000" b="1" dirty="0" smtClean="0"/>
            <a:t>Data filtering</a:t>
          </a:r>
          <a:endParaRPr lang="zh-TW" altLang="en-US" sz="2000" b="1" dirty="0"/>
        </a:p>
      </dgm:t>
    </dgm:pt>
    <dgm:pt modelId="{8F94A1B8-54F0-4CF0-A9CC-FDD344AAA536}" type="parTrans" cxnId="{A6117C9D-BFD1-4EE0-BBD1-3CDB6B6EA633}">
      <dgm:prSet/>
      <dgm:spPr/>
      <dgm:t>
        <a:bodyPr/>
        <a:lstStyle/>
        <a:p>
          <a:endParaRPr lang="zh-TW" altLang="en-US"/>
        </a:p>
      </dgm:t>
    </dgm:pt>
    <dgm:pt modelId="{F6BF2ECF-5D87-4729-A5A4-A9705B67430A}" type="sibTrans" cxnId="{A6117C9D-BFD1-4EE0-BBD1-3CDB6B6EA633}">
      <dgm:prSet/>
      <dgm:spPr/>
      <dgm:t>
        <a:bodyPr/>
        <a:lstStyle/>
        <a:p>
          <a:endParaRPr lang="zh-TW" altLang="en-US"/>
        </a:p>
      </dgm:t>
    </dgm:pt>
    <dgm:pt modelId="{A65E03E6-E3EF-48DF-B5D3-374D0C67A2E1}">
      <dgm:prSet/>
      <dgm:spPr/>
      <dgm:t>
        <a:bodyPr/>
        <a:lstStyle/>
        <a:p>
          <a:endParaRPr lang="zh-TW" altLang="en-US"/>
        </a:p>
      </dgm:t>
    </dgm:pt>
    <dgm:pt modelId="{CB97C379-F68E-42BE-AB72-6DB12A7FBED1}" type="parTrans" cxnId="{AB147CF7-D432-4804-A4D0-CF20BB815230}">
      <dgm:prSet/>
      <dgm:spPr/>
      <dgm:t>
        <a:bodyPr/>
        <a:lstStyle/>
        <a:p>
          <a:endParaRPr lang="zh-TW" altLang="en-US"/>
        </a:p>
      </dgm:t>
    </dgm:pt>
    <dgm:pt modelId="{579459F7-B21B-4700-870C-B8DA5EE69978}" type="sibTrans" cxnId="{AB147CF7-D432-4804-A4D0-CF20BB815230}">
      <dgm:prSet/>
      <dgm:spPr/>
      <dgm:t>
        <a:bodyPr/>
        <a:lstStyle/>
        <a:p>
          <a:endParaRPr lang="zh-TW" altLang="en-US"/>
        </a:p>
      </dgm:t>
    </dgm:pt>
    <dgm:pt modelId="{BB44709A-8879-431D-BD76-6A9F3CC24924}">
      <dgm:prSet phldrT="[文字]"/>
      <dgm:spPr/>
      <dgm:t>
        <a:bodyPr/>
        <a:lstStyle/>
        <a:p>
          <a:pPr algn="l"/>
          <a:endParaRPr lang="zh-TW" altLang="en-US" sz="1600" dirty="0"/>
        </a:p>
      </dgm:t>
    </dgm:pt>
    <dgm:pt modelId="{A64CBBCC-FEBC-464E-AD9F-88FFA1356DC2}" type="parTrans" cxnId="{7F3A41EB-C2A2-4C0D-8103-1CED994406AB}">
      <dgm:prSet/>
      <dgm:spPr/>
      <dgm:t>
        <a:bodyPr/>
        <a:lstStyle/>
        <a:p>
          <a:endParaRPr lang="zh-TW" altLang="en-US"/>
        </a:p>
      </dgm:t>
    </dgm:pt>
    <dgm:pt modelId="{E731C5FF-1797-49D1-8285-0B712B989B3D}" type="sibTrans" cxnId="{7F3A41EB-C2A2-4C0D-8103-1CED994406AB}">
      <dgm:prSet/>
      <dgm:spPr/>
      <dgm:t>
        <a:bodyPr/>
        <a:lstStyle/>
        <a:p>
          <a:endParaRPr lang="zh-TW" altLang="en-US"/>
        </a:p>
      </dgm:t>
    </dgm:pt>
    <dgm:pt modelId="{8378090E-7671-4FCE-A09E-C71D2CE860B5}" type="pres">
      <dgm:prSet presAssocID="{D15FAA3C-E79E-4853-B15E-C50FED148E7A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4993C6E1-AB42-4C82-BC6E-8CB00471E8E9}" type="pres">
      <dgm:prSet presAssocID="{D15FAA3C-E79E-4853-B15E-C50FED148E7A}" presName="ellipse" presStyleLbl="trBgShp" presStyleIdx="0" presStyleCnt="1"/>
      <dgm:spPr/>
    </dgm:pt>
    <dgm:pt modelId="{AD60F706-0DAF-47CF-8395-4002B5B5CA01}" type="pres">
      <dgm:prSet presAssocID="{D15FAA3C-E79E-4853-B15E-C50FED148E7A}" presName="arrow1" presStyleLbl="fgShp" presStyleIdx="0" presStyleCnt="1" custScaleX="105949" custScaleY="120804" custLinFactX="161208" custLinFactY="-149455" custLinFactNeighborX="200000" custLinFactNeighborY="-200000"/>
      <dgm:spPr>
        <a:prstGeom prst="rightArrow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zh-TW" altLang="en-US"/>
        </a:p>
      </dgm:t>
    </dgm:pt>
    <dgm:pt modelId="{AA357740-6FEB-4393-BE32-DCEB3E395A70}" type="pres">
      <dgm:prSet presAssocID="{D15FAA3C-E79E-4853-B15E-C50FED148E7A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1BD47ED-A107-4B5D-90D6-5AD77FAD36FE}" type="pres">
      <dgm:prSet presAssocID="{A65E03E6-E3EF-48DF-B5D3-374D0C67A2E1}" presName="item1" presStyleLbl="node1" presStyleIdx="0" presStyleCnt="1" custLinFactNeighborX="19481" custLinFactNeighborY="-1915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C8A67DD-E61C-4739-9CD0-BD2BB96CADCC}" type="pres">
      <dgm:prSet presAssocID="{D15FAA3C-E79E-4853-B15E-C50FED148E7A}" presName="funnel" presStyleLbl="trAlignAcc1" presStyleIdx="0" presStyleCnt="1" custLinFactNeighborX="986" custLinFactNeighborY="-2591"/>
      <dgm:spPr/>
    </dgm:pt>
  </dgm:ptLst>
  <dgm:cxnLst>
    <dgm:cxn modelId="{89EE936E-14B7-49EE-B729-A5476DEBABB2}" type="presOf" srcId="{BB44709A-8879-431D-BD76-6A9F3CC24924}" destId="{A1BD47ED-A107-4B5D-90D6-5AD77FAD36FE}" srcOrd="0" destOrd="1" presId="urn:microsoft.com/office/officeart/2005/8/layout/funnel1"/>
    <dgm:cxn modelId="{A6117C9D-BFD1-4EE0-BBD1-3CDB6B6EA633}" srcId="{D15FAA3C-E79E-4853-B15E-C50FED148E7A}" destId="{12589DDB-DF07-4564-B2E8-6F0E8448E68D}" srcOrd="0" destOrd="0" parTransId="{8F94A1B8-54F0-4CF0-A9CC-FDD344AAA536}" sibTransId="{F6BF2ECF-5D87-4729-A5A4-A9705B67430A}"/>
    <dgm:cxn modelId="{D6839271-9133-4DAC-AC6A-4F6BE10E3541}" type="presOf" srcId="{12589DDB-DF07-4564-B2E8-6F0E8448E68D}" destId="{A1BD47ED-A107-4B5D-90D6-5AD77FAD36FE}" srcOrd="0" destOrd="0" presId="urn:microsoft.com/office/officeart/2005/8/layout/funnel1"/>
    <dgm:cxn modelId="{AB147CF7-D432-4804-A4D0-CF20BB815230}" srcId="{D15FAA3C-E79E-4853-B15E-C50FED148E7A}" destId="{A65E03E6-E3EF-48DF-B5D3-374D0C67A2E1}" srcOrd="1" destOrd="0" parTransId="{CB97C379-F68E-42BE-AB72-6DB12A7FBED1}" sibTransId="{579459F7-B21B-4700-870C-B8DA5EE69978}"/>
    <dgm:cxn modelId="{7F3A41EB-C2A2-4C0D-8103-1CED994406AB}" srcId="{12589DDB-DF07-4564-B2E8-6F0E8448E68D}" destId="{BB44709A-8879-431D-BD76-6A9F3CC24924}" srcOrd="0" destOrd="0" parTransId="{A64CBBCC-FEBC-464E-AD9F-88FFA1356DC2}" sibTransId="{E731C5FF-1797-49D1-8285-0B712B989B3D}"/>
    <dgm:cxn modelId="{73BF6E71-68D9-4A3E-8D42-E4530938B29D}" type="presOf" srcId="{A65E03E6-E3EF-48DF-B5D3-374D0C67A2E1}" destId="{AA357740-6FEB-4393-BE32-DCEB3E395A70}" srcOrd="0" destOrd="0" presId="urn:microsoft.com/office/officeart/2005/8/layout/funnel1"/>
    <dgm:cxn modelId="{F55E0BE2-BBAE-4AA3-944B-9F7375F27E2D}" type="presOf" srcId="{D15FAA3C-E79E-4853-B15E-C50FED148E7A}" destId="{8378090E-7671-4FCE-A09E-C71D2CE860B5}" srcOrd="0" destOrd="0" presId="urn:microsoft.com/office/officeart/2005/8/layout/funnel1"/>
    <dgm:cxn modelId="{DBA6AC8D-4EE5-47A4-AA50-D726DD0385A5}" type="presParOf" srcId="{8378090E-7671-4FCE-A09E-C71D2CE860B5}" destId="{4993C6E1-AB42-4C82-BC6E-8CB00471E8E9}" srcOrd="0" destOrd="0" presId="urn:microsoft.com/office/officeart/2005/8/layout/funnel1"/>
    <dgm:cxn modelId="{03E96FB6-4526-42C2-B9CF-E9DE2068B1B2}" type="presParOf" srcId="{8378090E-7671-4FCE-A09E-C71D2CE860B5}" destId="{AD60F706-0DAF-47CF-8395-4002B5B5CA01}" srcOrd="1" destOrd="0" presId="urn:microsoft.com/office/officeart/2005/8/layout/funnel1"/>
    <dgm:cxn modelId="{1ABE2C2D-7EA1-4D93-9C0A-C273F33B9640}" type="presParOf" srcId="{8378090E-7671-4FCE-A09E-C71D2CE860B5}" destId="{AA357740-6FEB-4393-BE32-DCEB3E395A70}" srcOrd="2" destOrd="0" presId="urn:microsoft.com/office/officeart/2005/8/layout/funnel1"/>
    <dgm:cxn modelId="{B644A9B5-FF4B-4235-ABDE-998040717747}" type="presParOf" srcId="{8378090E-7671-4FCE-A09E-C71D2CE860B5}" destId="{A1BD47ED-A107-4B5D-90D6-5AD77FAD36FE}" srcOrd="3" destOrd="0" presId="urn:microsoft.com/office/officeart/2005/8/layout/funnel1"/>
    <dgm:cxn modelId="{A9D01139-3BEE-4B84-90C4-ADB34666A51A}" type="presParOf" srcId="{8378090E-7671-4FCE-A09E-C71D2CE860B5}" destId="{8C8A67DD-E61C-4739-9CD0-BD2BB96CADCC}" srcOrd="4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3C6E1-AB42-4C82-BC6E-8CB00471E8E9}">
      <dsp:nvSpPr>
        <dsp:cNvPr id="0" name=""/>
        <dsp:cNvSpPr/>
      </dsp:nvSpPr>
      <dsp:spPr>
        <a:xfrm>
          <a:off x="806114" y="128714"/>
          <a:ext cx="2554483" cy="887138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0F706-0DAF-47CF-8395-4002B5B5CA01}">
      <dsp:nvSpPr>
        <dsp:cNvPr id="0" name=""/>
        <dsp:cNvSpPr/>
      </dsp:nvSpPr>
      <dsp:spPr>
        <a:xfrm>
          <a:off x="3613242" y="1160861"/>
          <a:ext cx="524505" cy="382749"/>
        </a:xfrm>
        <a:prstGeom prst="rightArrow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357740-6FEB-4393-BE32-DCEB3E395A70}">
      <dsp:nvSpPr>
        <dsp:cNvPr id="0" name=""/>
        <dsp:cNvSpPr/>
      </dsp:nvSpPr>
      <dsp:spPr>
        <a:xfrm>
          <a:off x="899184" y="2554483"/>
          <a:ext cx="2376264" cy="59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2100" kern="1200"/>
        </a:p>
      </dsp:txBody>
      <dsp:txXfrm>
        <a:off x="899184" y="2554483"/>
        <a:ext cx="2376264" cy="594066"/>
      </dsp:txXfrm>
    </dsp:sp>
    <dsp:sp modelId="{A1BD47ED-A107-4B5D-90D6-5AD77FAD36FE}">
      <dsp:nvSpPr>
        <dsp:cNvPr id="0" name=""/>
        <dsp:cNvSpPr/>
      </dsp:nvSpPr>
      <dsp:spPr>
        <a:xfrm>
          <a:off x="1466254" y="0"/>
          <a:ext cx="1386154" cy="138615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/>
            <a:t>Data filtering</a:t>
          </a:r>
          <a:endParaRPr lang="zh-TW" altLang="en-US" sz="20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TW" altLang="en-US" sz="1600" kern="1200" dirty="0"/>
        </a:p>
      </dsp:txBody>
      <dsp:txXfrm>
        <a:off x="1669252" y="202998"/>
        <a:ext cx="980158" cy="980158"/>
      </dsp:txXfrm>
    </dsp:sp>
    <dsp:sp modelId="{8C8A67DD-E61C-4739-9CD0-BD2BB96CADCC}">
      <dsp:nvSpPr>
        <dsp:cNvPr id="0" name=""/>
        <dsp:cNvSpPr/>
      </dsp:nvSpPr>
      <dsp:spPr>
        <a:xfrm>
          <a:off x="728497" y="0"/>
          <a:ext cx="2772308" cy="22178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55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95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14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128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229600" y="1600201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33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987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73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54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11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20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29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1785600" y="274639"/>
            <a:ext cx="36576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274639"/>
            <a:ext cx="107696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82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A1FA4-A677-4B02-A8F8-A92FC0390C48}" type="datetimeFigureOut">
              <a:rPr lang="zh-TW" altLang="en-US" smtClean="0"/>
              <a:t>2022/12/30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66097-B6DC-4A7E-8DF4-B5155DBA06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73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4.png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6" Type="http://schemas.openxmlformats.org/officeDocument/2006/relationships/diagramData" Target="../diagrams/data1.xml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microsoft.com/office/2007/relationships/diagramDrawing" Target="../diagrams/drawing1.xml"/><Relationship Id="rId4" Type="http://schemas.openxmlformats.org/officeDocument/2006/relationships/image" Target="../media/image15.png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5" Type="http://schemas.openxmlformats.org/officeDocument/2006/relationships/image" Target="../media/image22.pn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直線接點 3"/>
          <p:cNvCxnSpPr/>
          <p:nvPr/>
        </p:nvCxnSpPr>
        <p:spPr>
          <a:xfrm>
            <a:off x="2133600" y="2486025"/>
            <a:ext cx="7972425" cy="0"/>
          </a:xfrm>
          <a:prstGeom prst="line">
            <a:avLst/>
          </a:prstGeom>
          <a:ln w="47625" cap="flat" cmpd="sng" algn="ctr">
            <a:solidFill>
              <a:srgbClr val="FFFFFF">
                <a:alpha val="33333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2133600" y="4133850"/>
            <a:ext cx="7972425" cy="0"/>
          </a:xfrm>
          <a:prstGeom prst="line">
            <a:avLst/>
          </a:prstGeom>
          <a:ln w="57150" cap="flat" cmpd="sng" algn="ctr">
            <a:solidFill>
              <a:srgbClr val="FFFFFF">
                <a:alpha val="33333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076451" y="2562225"/>
            <a:ext cx="8086725" cy="1476375"/>
          </a:xfrm>
          <a:prstGeom prst="rect">
            <a:avLst/>
          </a:prstGeom>
          <a:solidFill>
            <a:srgbClr val="FFFFFF">
              <a:alpha val="47451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775521" y="2600697"/>
            <a:ext cx="8712967" cy="1476375"/>
          </a:xfrm>
          <a:prstGeom prst="rect">
            <a:avLst/>
          </a:prstGeom>
          <a:solidFill>
            <a:srgbClr val="FFFFFF">
              <a:alpha val="47451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775520" y="2062162"/>
            <a:ext cx="8640959" cy="24765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>
              <a:lnSpc>
                <a:spcPct val="150000"/>
              </a:lnSpc>
            </a:pPr>
            <a:r>
              <a:rPr lang="en-US" altLang="zh-TW" sz="3200" b="1" i="1" dirty="0" smtClean="0">
                <a:solidFill>
                  <a:srgbClr val="000000"/>
                </a:solidFill>
                <a:latin typeface="+mj-lt"/>
                <a:ea typeface="微軟正黑體"/>
              </a:rPr>
              <a:t>Graph Neural Network For Air Quality Forecasting</a:t>
            </a:r>
          </a:p>
          <a:p>
            <a:pPr algn="ctr">
              <a:lnSpc>
                <a:spcPct val="150000"/>
              </a:lnSpc>
            </a:pPr>
            <a:r>
              <a:rPr lang="zh-TW" altLang="en-US" sz="2600" b="1" i="1" dirty="0" smtClean="0">
                <a:solidFill>
                  <a:srgbClr val="000000"/>
                </a:solidFill>
                <a:latin typeface="微軟正黑體"/>
                <a:ea typeface="微軟正黑體"/>
              </a:rPr>
              <a:t>基於</a:t>
            </a:r>
            <a:r>
              <a:rPr lang="zh-TW" altLang="en-US" sz="2600" b="1" i="1" dirty="0">
                <a:solidFill>
                  <a:srgbClr val="000000"/>
                </a:solidFill>
                <a:latin typeface="微軟正黑體"/>
                <a:ea typeface="微軟正黑體"/>
              </a:rPr>
              <a:t>圖神經網路之空氣品質</a:t>
            </a:r>
            <a:r>
              <a:rPr lang="zh-TW" altLang="en-US" sz="2600" b="1" i="1" dirty="0" smtClean="0">
                <a:solidFill>
                  <a:srgbClr val="000000"/>
                </a:solidFill>
                <a:latin typeface="微軟正黑體"/>
                <a:ea typeface="微軟正黑體"/>
              </a:rPr>
              <a:t>預測</a:t>
            </a:r>
            <a:endParaRPr lang="en-US" altLang="zh-TW" sz="2600" b="1" i="1" dirty="0">
              <a:solidFill>
                <a:srgbClr val="000000"/>
              </a:solidFill>
              <a:latin typeface="微軟正黑體"/>
              <a:ea typeface="微軟正黑體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23766" y="4240566"/>
            <a:ext cx="6610670" cy="148790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66675" rtlCol="0" anchor="ctr"/>
          <a:lstStyle/>
          <a:p>
            <a:pPr algn="ctr">
              <a:lnSpc>
                <a:spcPct val="125000"/>
              </a:lnSpc>
            </a:pPr>
            <a:r>
              <a:rPr lang="zh-TW" altLang="en-US" sz="2800" b="1" dirty="0" smtClean="0">
                <a:solidFill>
                  <a:srgbClr val="FFFFFF"/>
                </a:solidFill>
                <a:latin typeface="微軟正黑體"/>
                <a:ea typeface="微軟正黑體"/>
              </a:rPr>
              <a:t>組員</a:t>
            </a:r>
            <a:r>
              <a:rPr lang="en-US" altLang="zh-TW" sz="2800" b="1" dirty="0" smtClean="0">
                <a:solidFill>
                  <a:srgbClr val="FFFFFF"/>
                </a:solidFill>
                <a:latin typeface="微軟正黑體"/>
                <a:ea typeface="微軟正黑體"/>
              </a:rPr>
              <a:t>: 1083513 </a:t>
            </a:r>
            <a:r>
              <a:rPr lang="zh-TW" altLang="en-US" sz="2800" b="1" dirty="0" smtClean="0">
                <a:solidFill>
                  <a:srgbClr val="FFFFFF"/>
                </a:solidFill>
                <a:latin typeface="微軟正黑體"/>
                <a:ea typeface="微軟正黑體"/>
              </a:rPr>
              <a:t>張芮瑀 </a:t>
            </a:r>
            <a:r>
              <a:rPr lang="en-US" altLang="zh-TW" sz="2800" b="1" dirty="0" smtClean="0">
                <a:solidFill>
                  <a:srgbClr val="FFFFFF"/>
                </a:solidFill>
                <a:latin typeface="+mj-lt"/>
                <a:ea typeface="微軟正黑體"/>
              </a:rPr>
              <a:t>Emily</a:t>
            </a:r>
            <a:r>
              <a:rPr lang="zh-TW" altLang="en-US" sz="2800" b="1" dirty="0" smtClean="0">
                <a:solidFill>
                  <a:srgbClr val="FFFFFF"/>
                </a:solidFill>
                <a:latin typeface="微軟正黑體"/>
                <a:ea typeface="微軟正黑體"/>
              </a:rPr>
              <a:t>  </a:t>
            </a:r>
          </a:p>
          <a:p>
            <a:pPr algn="ctr">
              <a:lnSpc>
                <a:spcPct val="125000"/>
              </a:lnSpc>
            </a:pPr>
            <a:r>
              <a:rPr lang="zh-TW" altLang="en-US" sz="2800" b="1" dirty="0" smtClean="0">
                <a:solidFill>
                  <a:srgbClr val="FFFFFF"/>
                </a:solidFill>
                <a:latin typeface="微軟正黑體"/>
                <a:ea typeface="微軟正黑體"/>
              </a:rPr>
              <a:t>指導教授</a:t>
            </a:r>
            <a:r>
              <a:rPr lang="en-US" altLang="zh-TW" sz="2800" b="1" dirty="0" smtClean="0">
                <a:solidFill>
                  <a:srgbClr val="FFFFFF"/>
                </a:solidFill>
                <a:latin typeface="微軟正黑體"/>
                <a:ea typeface="微軟正黑體"/>
              </a:rPr>
              <a:t>: </a:t>
            </a:r>
            <a:r>
              <a:rPr lang="zh-TW" altLang="en-US" sz="2800" b="1" dirty="0" smtClean="0">
                <a:solidFill>
                  <a:srgbClr val="FFFFFF"/>
                </a:solidFill>
                <a:latin typeface="微軟正黑體"/>
                <a:ea typeface="微軟正黑體"/>
              </a:rPr>
              <a:t>邱昭彰</a:t>
            </a:r>
            <a:endParaRPr lang="zh-TW" altLang="en-US" sz="2800" b="1" dirty="0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0539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8502"/>
    </mc:Choice>
    <mc:Fallback xmlns="">
      <p:transition spd="slow" advTm="8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7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516"/>
            <a:ext cx="12192000" cy="654414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992544" y="6524625"/>
            <a:ext cx="1219200" cy="3429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1350" b="1" dirty="0" smtClean="0">
                <a:solidFill>
                  <a:srgbClr val="FFFFFF"/>
                </a:solidFill>
                <a:latin typeface="Arial"/>
              </a:rPr>
              <a:t>1</a:t>
            </a:r>
            <a:endParaRPr lang="zh-TW" altLang="en-US" sz="13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-9759"/>
            <a:ext cx="12192000" cy="6524625"/>
          </a:xfrm>
          <a:prstGeom prst="rect">
            <a:avLst/>
          </a:prstGeom>
          <a:solidFill>
            <a:srgbClr val="FFFFFF">
              <a:alpha val="47059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908720"/>
            <a:ext cx="5324621" cy="5320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向右箭號 1"/>
          <p:cNvSpPr/>
          <p:nvPr/>
        </p:nvSpPr>
        <p:spPr>
          <a:xfrm>
            <a:off x="6456040" y="4339757"/>
            <a:ext cx="1008112" cy="64807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雲朵形圖說文字 9"/>
          <p:cNvSpPr/>
          <p:nvPr/>
        </p:nvSpPr>
        <p:spPr>
          <a:xfrm>
            <a:off x="6600056" y="347295"/>
            <a:ext cx="4786064" cy="2909841"/>
          </a:xfrm>
          <a:prstGeom prst="cloudCallout">
            <a:avLst>
              <a:gd name="adj1" fmla="val -60777"/>
              <a:gd name="adj2" fmla="val 2106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7367464" y="1016352"/>
            <a:ext cx="4824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srgbClr val="0070C0"/>
                </a:solidFill>
              </a:rPr>
              <a:t>28% </a:t>
            </a:r>
            <a:r>
              <a:rPr lang="en-US" altLang="zh-TW" sz="2400" b="1" dirty="0" smtClean="0"/>
              <a:t>Heart </a:t>
            </a:r>
            <a:r>
              <a:rPr lang="en-US" altLang="zh-TW" sz="2400" b="1" dirty="0"/>
              <a:t>disease and </a:t>
            </a:r>
            <a:r>
              <a:rPr lang="en-US" altLang="zh-TW" sz="2400" b="1" dirty="0" smtClean="0"/>
              <a:t>stroke</a:t>
            </a:r>
          </a:p>
          <a:p>
            <a:r>
              <a:rPr lang="en-US" altLang="zh-TW" sz="3200" b="1" dirty="0" smtClean="0">
                <a:solidFill>
                  <a:srgbClr val="0070C0"/>
                </a:solidFill>
              </a:rPr>
              <a:t>43</a:t>
            </a:r>
            <a:r>
              <a:rPr lang="en-US" altLang="zh-TW" sz="3200" b="1" dirty="0">
                <a:solidFill>
                  <a:srgbClr val="0070C0"/>
                </a:solidFill>
              </a:rPr>
              <a:t>%</a:t>
            </a:r>
            <a:r>
              <a:rPr lang="en-US" altLang="zh-TW" sz="3200" b="1" dirty="0"/>
              <a:t> </a:t>
            </a:r>
            <a:r>
              <a:rPr lang="en-US" altLang="zh-TW" sz="2400" b="1" dirty="0"/>
              <a:t>L</a:t>
            </a:r>
            <a:r>
              <a:rPr lang="en-US" altLang="zh-TW" sz="2400" b="1" dirty="0" smtClean="0"/>
              <a:t>ung disease</a:t>
            </a:r>
          </a:p>
          <a:p>
            <a:r>
              <a:rPr lang="en-US" altLang="zh-TW" sz="3200" b="1" dirty="0" smtClean="0">
                <a:solidFill>
                  <a:srgbClr val="0070C0"/>
                </a:solidFill>
              </a:rPr>
              <a:t>29</a:t>
            </a:r>
            <a:r>
              <a:rPr lang="en-US" altLang="zh-TW" sz="3200" b="1" dirty="0">
                <a:solidFill>
                  <a:srgbClr val="0070C0"/>
                </a:solidFill>
              </a:rPr>
              <a:t>% </a:t>
            </a:r>
            <a:r>
              <a:rPr lang="en-US" altLang="zh-TW" sz="2400" b="1" dirty="0"/>
              <a:t>L</a:t>
            </a:r>
            <a:r>
              <a:rPr lang="en-US" altLang="zh-TW" sz="2400" b="1" dirty="0" smtClean="0"/>
              <a:t>ung cancer 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7649814" y="3971296"/>
            <a:ext cx="4204828" cy="13849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Air pollution causes </a:t>
            </a:r>
            <a:r>
              <a:rPr lang="en-US" altLang="zh-TW" sz="2800" b="1" dirty="0">
                <a:solidFill>
                  <a:srgbClr val="FF0000"/>
                </a:solidFill>
              </a:rPr>
              <a:t>20,000 people early deaths</a:t>
            </a:r>
            <a:r>
              <a:rPr lang="en-US" altLang="zh-TW" sz="2800" b="1" dirty="0"/>
              <a:t> each year in Taiwan. 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839416" y="118373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latin typeface="+mj-lt"/>
              </a:rPr>
              <a:t>Effects of Air Pollution</a:t>
            </a:r>
            <a:endParaRPr lang="zh-TW" altLang="en-US" sz="3600" b="1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2339325"/>
      </p:ext>
    </p:extLst>
  </p:cSld>
  <p:clrMapOvr>
    <a:masterClrMapping/>
  </p:clrMapOvr>
  <p:transition spd="slow" advTm="1829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7" grpId="0"/>
      <p:bldP spid="8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/>
          <p:cNvSpPr txBox="1"/>
          <p:nvPr/>
        </p:nvSpPr>
        <p:spPr>
          <a:xfrm>
            <a:off x="4938348" y="338316"/>
            <a:ext cx="7272808" cy="61863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938348" y="-1332"/>
            <a:ext cx="7272808" cy="64633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rgbClr val="FFFFFF">
              <a:alpha val="47059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997480" y="6524625"/>
            <a:ext cx="1219200" cy="3429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1350" b="1" dirty="0">
                <a:solidFill>
                  <a:srgbClr val="FFFFFF"/>
                </a:solidFill>
                <a:latin typeface="Arial"/>
              </a:rPr>
              <a:t>3</a:t>
            </a:r>
            <a:endParaRPr lang="zh-TW" altLang="en-US" sz="13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90862" y="232445"/>
            <a:ext cx="6010275" cy="67627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b"/>
          <a:lstStyle/>
          <a:p>
            <a:pPr algn="ctr"/>
            <a:r>
              <a:rPr lang="en-US" altLang="zh-TW" sz="4000" b="1" dirty="0">
                <a:solidFill>
                  <a:srgbClr val="000000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D</a:t>
            </a:r>
            <a:r>
              <a:rPr lang="en-US" altLang="zh-TW" sz="4000" b="1" dirty="0" smtClean="0">
                <a:solidFill>
                  <a:srgbClr val="000000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efinition of AQI</a:t>
            </a:r>
            <a:endParaRPr lang="zh-TW" altLang="en-US" sz="4000" b="1" dirty="0">
              <a:solidFill>
                <a:srgbClr val="000000"/>
              </a:solidFill>
              <a:latin typeface="+mj-lt"/>
              <a:ea typeface="微軟正黑體"/>
              <a:cs typeface="Times New Roman" panose="02020603050405020304" pitchFamily="18" charset="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465" y="960341"/>
            <a:ext cx="7157070" cy="41519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293" y="5179517"/>
            <a:ext cx="7971414" cy="1345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9" name="直線單箭頭接點 8"/>
          <p:cNvCxnSpPr>
            <a:endCxn id="10" idx="3"/>
          </p:cNvCxnSpPr>
          <p:nvPr/>
        </p:nvCxnSpPr>
        <p:spPr>
          <a:xfrm flipH="1">
            <a:off x="2445457" y="2348880"/>
            <a:ext cx="1274282" cy="6672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7328" y="2046611"/>
            <a:ext cx="2398129" cy="193899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TW" sz="2400" b="1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B</a:t>
            </a: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ased </a:t>
            </a:r>
            <a:r>
              <a:rPr lang="en-US" altLang="zh-TW" sz="2400" b="1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on the measurement </a:t>
            </a: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of those solid </a:t>
            </a:r>
            <a:r>
              <a:rPr lang="en-US" altLang="zh-TW" sz="2400" b="1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and liquid </a:t>
            </a: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particles.</a:t>
            </a:r>
            <a:endParaRPr lang="zh-TW" altLang="en-US" sz="2400" dirty="0"/>
          </a:p>
        </p:txBody>
      </p:sp>
      <p:sp>
        <p:nvSpPr>
          <p:cNvPr id="17" name="橢圓 16"/>
          <p:cNvSpPr/>
          <p:nvPr/>
        </p:nvSpPr>
        <p:spPr>
          <a:xfrm>
            <a:off x="8328248" y="3334320"/>
            <a:ext cx="1080120" cy="110279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422121" y="3574757"/>
            <a:ext cx="1274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smtClean="0">
                <a:solidFill>
                  <a:srgbClr val="FF0000"/>
                </a:solidFill>
              </a:rPr>
              <a:t>60%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149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6306">
        <p:wipe/>
      </p:transition>
    </mc:Choice>
    <mc:Fallback xmlns="">
      <p:transition spd="slow" advTm="26306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/>
          <p:cNvSpPr txBox="1"/>
          <p:nvPr/>
        </p:nvSpPr>
        <p:spPr>
          <a:xfrm>
            <a:off x="4938348" y="338316"/>
            <a:ext cx="7272808" cy="61863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938348" y="-1332"/>
            <a:ext cx="7272808" cy="64633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rgbClr val="FFFFFF">
              <a:alpha val="47059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just">
              <a:lnSpc>
                <a:spcPct val="150000"/>
              </a:lnSpc>
            </a:pPr>
            <a:endParaRPr lang="en-US" altLang="zh-TW" sz="2000" b="1" dirty="0">
              <a:solidFill>
                <a:srgbClr val="000000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7652" y="1415546"/>
            <a:ext cx="4465783" cy="482367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 algn="just">
              <a:lnSpc>
                <a:spcPct val="150000"/>
              </a:lnSpc>
            </a:pPr>
            <a:endParaRPr lang="zh-TW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97480" y="6524625"/>
            <a:ext cx="1219200" cy="3429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1350" b="1" dirty="0">
                <a:solidFill>
                  <a:srgbClr val="FFFFFF"/>
                </a:solidFill>
                <a:latin typeface="Arial"/>
              </a:rPr>
              <a:t>4</a:t>
            </a:r>
            <a:endParaRPr lang="zh-TW" altLang="en-US" sz="13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0063" y="402085"/>
            <a:ext cx="6010275" cy="67627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b"/>
          <a:lstStyle/>
          <a:p>
            <a:endParaRPr lang="zh-TW" altLang="en-US" sz="3000" b="1" dirty="0">
              <a:solidFill>
                <a:srgbClr val="000000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0052" y="1567946"/>
            <a:ext cx="4465783" cy="482367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 algn="just">
              <a:lnSpc>
                <a:spcPct val="150000"/>
              </a:lnSpc>
            </a:pPr>
            <a:endParaRPr lang="zh-TW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2" y="1412776"/>
            <a:ext cx="5878336" cy="538361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>
              <a:lnSpc>
                <a:spcPct val="150000"/>
              </a:lnSpc>
            </a:pPr>
            <a:endParaRPr lang="zh-TW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92463" y="357224"/>
            <a:ext cx="6010275" cy="105832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b"/>
          <a:lstStyle/>
          <a:p>
            <a:pPr>
              <a:lnSpc>
                <a:spcPct val="150000"/>
              </a:lnSpc>
            </a:pPr>
            <a:r>
              <a:rPr lang="en-US" altLang="zh-TW" sz="3600" b="1" dirty="0" smtClean="0">
                <a:solidFill>
                  <a:srgbClr val="000000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Air Quality Prediction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2400" b="1" dirty="0" smtClean="0">
                <a:solidFill>
                  <a:srgbClr val="000000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Why do we need GNN?</a:t>
            </a:r>
            <a:endParaRPr lang="zh-TW" altLang="en-US" sz="2400" b="1" dirty="0">
              <a:solidFill>
                <a:srgbClr val="000000"/>
              </a:solidFill>
              <a:latin typeface="+mj-lt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428132" y="1385284"/>
            <a:ext cx="71154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2400" b="1" dirty="0" smtClean="0"/>
              <a:t>To process non-Euclidean data!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400" b="1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400" b="1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400" b="1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400" b="1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400" b="1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2400" b="1" dirty="0" smtClean="0"/>
          </a:p>
          <a:p>
            <a:endParaRPr lang="en-US" altLang="zh-TW" sz="2400" b="1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96" y="1964538"/>
            <a:ext cx="2997968" cy="423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文字方塊 16"/>
          <p:cNvSpPr txBox="1"/>
          <p:nvPr/>
        </p:nvSpPr>
        <p:spPr>
          <a:xfrm>
            <a:off x="5148655" y="5589240"/>
            <a:ext cx="89627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TW" sz="2000" b="1" dirty="0" smtClean="0"/>
              <a:t>Air pollutant (Hourly time series data)</a:t>
            </a:r>
          </a:p>
          <a:p>
            <a:pPr marL="342900" indent="-342900">
              <a:lnSpc>
                <a:spcPct val="150000"/>
              </a:lnSpc>
              <a:buFont typeface="Calibri" panose="020F0502020204030204" pitchFamily="34" charset="0"/>
              <a:buChar char="→"/>
            </a:pPr>
            <a:r>
              <a:rPr lang="en-US" altLang="zh-TW" sz="2000" b="1" dirty="0" smtClean="0"/>
              <a:t> Affected </a:t>
            </a:r>
            <a:r>
              <a:rPr lang="en-US" altLang="zh-TW" sz="2000" b="1" dirty="0"/>
              <a:t>by many factors (such as weather, traffic volume). </a:t>
            </a:r>
            <a:endParaRPr lang="en-US" altLang="zh-TW" sz="2000" b="1" dirty="0" smtClean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8" r="17200" b="15155"/>
          <a:stretch/>
        </p:blipFill>
        <p:spPr bwMode="auto">
          <a:xfrm>
            <a:off x="7975044" y="1951443"/>
            <a:ext cx="3055912" cy="360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向右箭號 14"/>
          <p:cNvSpPr/>
          <p:nvPr/>
        </p:nvSpPr>
        <p:spPr>
          <a:xfrm>
            <a:off x="5807968" y="3395466"/>
            <a:ext cx="1395275" cy="1000802"/>
          </a:xfrm>
          <a:prstGeom prst="strip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5054872" y="2493279"/>
            <a:ext cx="3590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C00000"/>
                </a:solidFill>
              </a:rPr>
              <a:t>Complex Air Quality Monitoring Network 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8668012" y="2282710"/>
            <a:ext cx="2513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(Monitoring station)</a:t>
            </a:r>
            <a:endParaRPr lang="zh-TW" alt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848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6648">
        <p:wipe/>
      </p:transition>
    </mc:Choice>
    <mc:Fallback xmlns="">
      <p:transition spd="slow" advTm="46648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7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 animBg="1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18"/>
            <a:ext cx="12192000" cy="647246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997480" y="6524625"/>
            <a:ext cx="1219200" cy="3429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1350" b="1" dirty="0">
                <a:solidFill>
                  <a:srgbClr val="FFFFFF"/>
                </a:solidFill>
                <a:latin typeface="Arial"/>
              </a:rPr>
              <a:t>6</a:t>
            </a:r>
            <a:endParaRPr lang="zh-TW" altLang="en-US" sz="13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912" y="37618"/>
            <a:ext cx="5074975" cy="6446165"/>
          </a:xfrm>
          <a:prstGeom prst="rect">
            <a:avLst/>
          </a:prstGeom>
          <a:solidFill>
            <a:srgbClr val="FFFFFF">
              <a:alpha val="47059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-24680" y="-27384"/>
            <a:ext cx="5112567" cy="633670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>
              <a:lnSpc>
                <a:spcPct val="150000"/>
              </a:lnSpc>
            </a:pPr>
            <a:endParaRPr lang="en-US" altLang="zh-TW" sz="800" b="1" dirty="0" smtClean="0">
              <a:solidFill>
                <a:srgbClr val="000000"/>
              </a:solidFill>
              <a:latin typeface="+mj-lt"/>
              <a:ea typeface="微軟正黑體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TW" sz="2600" b="1" dirty="0" smtClean="0">
                <a:solidFill>
                  <a:srgbClr val="000000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How </a:t>
            </a:r>
            <a:r>
              <a:rPr lang="en-US" altLang="zh-TW" sz="2600" b="1" dirty="0">
                <a:solidFill>
                  <a:srgbClr val="000000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Weather Affects Air </a:t>
            </a:r>
            <a:r>
              <a:rPr lang="en-US" altLang="zh-TW" sz="2600" b="1" dirty="0" smtClean="0">
                <a:solidFill>
                  <a:srgbClr val="000000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Quality?</a:t>
            </a:r>
          </a:p>
          <a:p>
            <a:pPr>
              <a:lnSpc>
                <a:spcPct val="150000"/>
              </a:lnSpc>
            </a:pPr>
            <a:endParaRPr lang="en-US" altLang="zh-TW" sz="2000" b="1" dirty="0" smtClean="0">
              <a:solidFill>
                <a:srgbClr val="000000"/>
              </a:solidFill>
              <a:ea typeface="微軟正黑體"/>
            </a:endParaRPr>
          </a:p>
          <a:p>
            <a:pPr>
              <a:lnSpc>
                <a:spcPct val="150000"/>
              </a:lnSpc>
            </a:pPr>
            <a:endParaRPr lang="en-US" altLang="zh-TW" sz="900" b="1" dirty="0" smtClean="0">
              <a:solidFill>
                <a:srgbClr val="000000"/>
              </a:solidFill>
              <a:ea typeface="微軟正黑體"/>
            </a:endParaRPr>
          </a:p>
          <a:p>
            <a:pPr algn="ctr">
              <a:lnSpc>
                <a:spcPct val="200000"/>
              </a:lnSpc>
            </a:pPr>
            <a:r>
              <a:rPr lang="en-US" altLang="zh-TW" sz="2400" b="1" dirty="0">
                <a:solidFill>
                  <a:srgbClr val="000000"/>
                </a:solidFill>
                <a:ea typeface="微軟正黑體"/>
              </a:rPr>
              <a:t>The two main factors</a:t>
            </a: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</a:rPr>
              <a:t>:</a:t>
            </a:r>
          </a:p>
          <a:p>
            <a:pPr algn="ctr">
              <a:lnSpc>
                <a:spcPct val="200000"/>
              </a:lnSpc>
            </a:pP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</a:rPr>
              <a:t> </a:t>
            </a:r>
            <a:r>
              <a:rPr lang="en-US" altLang="zh-TW" sz="2400" b="1" dirty="0">
                <a:solidFill>
                  <a:srgbClr val="000000"/>
                </a:solidFill>
                <a:ea typeface="微軟正黑體"/>
              </a:rPr>
              <a:t>(1) Wind </a:t>
            </a: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</a:rPr>
              <a:t>direction</a:t>
            </a:r>
          </a:p>
          <a:p>
            <a:pPr algn="ctr">
              <a:lnSpc>
                <a:spcPct val="200000"/>
              </a:lnSpc>
            </a:pP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</a:rPr>
              <a:t> </a:t>
            </a:r>
            <a:r>
              <a:rPr lang="en-US" altLang="zh-TW" sz="2400" b="1" dirty="0">
                <a:solidFill>
                  <a:srgbClr val="000000"/>
                </a:solidFill>
                <a:ea typeface="微軟正黑體"/>
              </a:rPr>
              <a:t>(2) Terrain </a:t>
            </a:r>
            <a:r>
              <a:rPr lang="en-US" altLang="zh-TW" sz="2400" b="1" dirty="0" smtClean="0">
                <a:solidFill>
                  <a:srgbClr val="000000"/>
                </a:solidFill>
                <a:ea typeface="微軟正黑體"/>
              </a:rPr>
              <a:t>obstruction</a:t>
            </a:r>
            <a:endParaRPr lang="en-US" altLang="zh-TW" sz="2400" b="1" dirty="0">
              <a:solidFill>
                <a:srgbClr val="000000"/>
              </a:solidFill>
              <a:ea typeface="微軟正黑體"/>
            </a:endParaRPr>
          </a:p>
          <a:p>
            <a:pPr algn="ctr">
              <a:lnSpc>
                <a:spcPct val="200000"/>
              </a:lnSpc>
            </a:pPr>
            <a:endParaRPr lang="en-US" altLang="zh-TW" sz="2000" b="1" dirty="0" smtClean="0">
              <a:solidFill>
                <a:schemeClr val="tx1"/>
              </a:solidFill>
              <a:ea typeface="微軟正黑體"/>
              <a:cs typeface="Times New Roman" panose="02020603050405020304" pitchFamily="18" charset="0"/>
            </a:endParaRPr>
          </a:p>
          <a:p>
            <a:pPr marL="342900" indent="-34290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b="1" dirty="0" smtClean="0">
                <a:solidFill>
                  <a:schemeClr val="tx1"/>
                </a:solidFill>
                <a:ea typeface="微軟正黑體"/>
                <a:cs typeface="Times New Roman" panose="02020603050405020304" pitchFamily="18" charset="0"/>
              </a:rPr>
              <a:t>Stronger winds  -&gt;  Lower air pollution concentrations</a:t>
            </a:r>
            <a:endParaRPr lang="en-US" altLang="zh-TW" sz="2400" b="1" dirty="0">
              <a:solidFill>
                <a:schemeClr val="tx1"/>
              </a:solidFill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63952" y="5091466"/>
            <a:ext cx="6264696" cy="9782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2400" b="1" dirty="0">
                <a:solidFill>
                  <a:schemeClr val="bg1"/>
                </a:solidFill>
                <a:ea typeface="微軟正黑體"/>
                <a:cs typeface="Times New Roman" panose="02020603050405020304" pitchFamily="18" charset="0"/>
              </a:rPr>
              <a:t>Nearly a year of Tainan air-quality distribution</a:t>
            </a:r>
            <a:endParaRPr lang="zh-TW" altLang="en-US" sz="2400" b="1" dirty="0">
              <a:solidFill>
                <a:schemeClr val="bg1"/>
              </a:solidFill>
              <a:ea typeface="微軟正黑體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87" y="1400582"/>
            <a:ext cx="7066176" cy="4105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5296272" y="848906"/>
            <a:ext cx="3816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Northeast monsoon</a:t>
            </a:r>
          </a:p>
          <a:p>
            <a:pPr algn="ctr"/>
            <a:r>
              <a:rPr lang="en-US" altLang="zh-TW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(October to April)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976320" y="848906"/>
            <a:ext cx="3816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Southwest monsoon</a:t>
            </a:r>
          </a:p>
          <a:p>
            <a:pPr algn="ctr"/>
            <a:r>
              <a:rPr lang="en-US" altLang="zh-TW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(May to </a:t>
            </a:r>
            <a:r>
              <a:rPr lang="en-US" altLang="zh-TW" sz="20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September)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6203531"/>
      </p:ext>
    </p:extLst>
  </p:cSld>
  <p:clrMapOvr>
    <a:masterClrMapping/>
  </p:clrMapOvr>
  <p:transition spd="slow" advTm="40712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55387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0534650" y="6524625"/>
            <a:ext cx="1657350" cy="3429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 sz="13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997480" y="6524625"/>
            <a:ext cx="1219200" cy="3429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1350" b="1" dirty="0">
                <a:solidFill>
                  <a:srgbClr val="FFFFFF"/>
                </a:solidFill>
                <a:latin typeface="Arial"/>
              </a:rPr>
              <a:t>5</a:t>
            </a:r>
            <a:endParaRPr lang="zh-TW" altLang="en-US" sz="13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rgbClr val="FFFFFF">
              <a:alpha val="47059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251684" y="-75013"/>
            <a:ext cx="5688632" cy="127176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4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Research </a:t>
            </a:r>
            <a:r>
              <a:rPr lang="en-US" altLang="zh-TW" sz="4400" b="1" dirty="0" smtClean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methods</a:t>
            </a:r>
            <a:endParaRPr lang="en-US" altLang="zh-TW" sz="44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790" y="1308041"/>
            <a:ext cx="2395620" cy="521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資料庫圖表 1"/>
          <p:cNvGraphicFramePr/>
          <p:nvPr>
            <p:extLst>
              <p:ext uri="{D42A27DB-BD31-4B8C-83A1-F6EECF244321}">
                <p14:modId xmlns:p14="http://schemas.microsoft.com/office/powerpoint/2010/main" val="2760309725"/>
              </p:ext>
            </p:extLst>
          </p:nvPr>
        </p:nvGraphicFramePr>
        <p:xfrm>
          <a:off x="408283" y="3140968"/>
          <a:ext cx="4174634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57596" y="1846565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b="1" dirty="0"/>
              <a:t>Dataset: Air quality index (AQI) (historical data, updated hourly) 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767408" y="5539879"/>
            <a:ext cx="3456384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chemeClr val="bg1"/>
                </a:solidFill>
              </a:rPr>
              <a:t>Tainan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TW" sz="2000" b="1" dirty="0" smtClean="0">
                <a:solidFill>
                  <a:schemeClr val="bg1"/>
                </a:solidFill>
              </a:rPr>
              <a:t>6 air monitoring stations</a:t>
            </a:r>
            <a:endParaRPr lang="zh-TW" alt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向下箭號 13"/>
          <p:cNvSpPr/>
          <p:nvPr/>
        </p:nvSpPr>
        <p:spPr>
          <a:xfrm>
            <a:off x="2334482" y="2564904"/>
            <a:ext cx="322236" cy="500759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5017719" y="1124744"/>
            <a:ext cx="2466329" cy="4818014"/>
            <a:chOff x="5017719" y="1269453"/>
            <a:chExt cx="2466329" cy="4818014"/>
          </a:xfrm>
        </p:grpSpPr>
        <p:sp>
          <p:nvSpPr>
            <p:cNvPr id="9" name="手繪多邊形 8"/>
            <p:cNvSpPr/>
            <p:nvPr/>
          </p:nvSpPr>
          <p:spPr>
            <a:xfrm>
              <a:off x="5017719" y="1269453"/>
              <a:ext cx="1756860" cy="1756860"/>
            </a:xfrm>
            <a:custGeom>
              <a:avLst/>
              <a:gdLst>
                <a:gd name="connsiteX0" fmla="*/ 0 w 1756860"/>
                <a:gd name="connsiteY0" fmla="*/ 878430 h 1756860"/>
                <a:gd name="connsiteX1" fmla="*/ 878430 w 1756860"/>
                <a:gd name="connsiteY1" fmla="*/ 0 h 1756860"/>
                <a:gd name="connsiteX2" fmla="*/ 1756860 w 1756860"/>
                <a:gd name="connsiteY2" fmla="*/ 878430 h 1756860"/>
                <a:gd name="connsiteX3" fmla="*/ 878430 w 1756860"/>
                <a:gd name="connsiteY3" fmla="*/ 1756860 h 1756860"/>
                <a:gd name="connsiteX4" fmla="*/ 0 w 1756860"/>
                <a:gd name="connsiteY4" fmla="*/ 878430 h 17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6860" h="1756860">
                  <a:moveTo>
                    <a:pt x="0" y="878430"/>
                  </a:moveTo>
                  <a:cubicBezTo>
                    <a:pt x="0" y="393287"/>
                    <a:pt x="393287" y="0"/>
                    <a:pt x="878430" y="0"/>
                  </a:cubicBezTo>
                  <a:cubicBezTo>
                    <a:pt x="1363573" y="0"/>
                    <a:pt x="1756860" y="393287"/>
                    <a:pt x="1756860" y="878430"/>
                  </a:cubicBezTo>
                  <a:cubicBezTo>
                    <a:pt x="1756860" y="1363573"/>
                    <a:pt x="1363573" y="1756860"/>
                    <a:pt x="878430" y="1756860"/>
                  </a:cubicBezTo>
                  <a:cubicBezTo>
                    <a:pt x="393287" y="1756860"/>
                    <a:pt x="0" y="1363573"/>
                    <a:pt x="0" y="878430"/>
                  </a:cubicBez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7766" tIns="287766" rIns="287766" bIns="287766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2400" b="1" kern="1200" dirty="0" smtClean="0"/>
                <a:t>Filling missing value</a:t>
              </a:r>
              <a:endParaRPr lang="zh-TW" altLang="en-US" sz="2400" b="1" kern="1200" dirty="0"/>
            </a:p>
          </p:txBody>
        </p:sp>
        <p:sp>
          <p:nvSpPr>
            <p:cNvPr id="10" name="手繪多邊形 9"/>
            <p:cNvSpPr/>
            <p:nvPr/>
          </p:nvSpPr>
          <p:spPr>
            <a:xfrm>
              <a:off x="5386660" y="3168971"/>
              <a:ext cx="1018979" cy="1018979"/>
            </a:xfrm>
            <a:custGeom>
              <a:avLst/>
              <a:gdLst>
                <a:gd name="connsiteX0" fmla="*/ 135066 w 1018979"/>
                <a:gd name="connsiteY0" fmla="*/ 389658 h 1018979"/>
                <a:gd name="connsiteX1" fmla="*/ 389658 w 1018979"/>
                <a:gd name="connsiteY1" fmla="*/ 389658 h 1018979"/>
                <a:gd name="connsiteX2" fmla="*/ 389658 w 1018979"/>
                <a:gd name="connsiteY2" fmla="*/ 135066 h 1018979"/>
                <a:gd name="connsiteX3" fmla="*/ 629321 w 1018979"/>
                <a:gd name="connsiteY3" fmla="*/ 135066 h 1018979"/>
                <a:gd name="connsiteX4" fmla="*/ 629321 w 1018979"/>
                <a:gd name="connsiteY4" fmla="*/ 389658 h 1018979"/>
                <a:gd name="connsiteX5" fmla="*/ 883913 w 1018979"/>
                <a:gd name="connsiteY5" fmla="*/ 389658 h 1018979"/>
                <a:gd name="connsiteX6" fmla="*/ 883913 w 1018979"/>
                <a:gd name="connsiteY6" fmla="*/ 629321 h 1018979"/>
                <a:gd name="connsiteX7" fmla="*/ 629321 w 1018979"/>
                <a:gd name="connsiteY7" fmla="*/ 629321 h 1018979"/>
                <a:gd name="connsiteX8" fmla="*/ 629321 w 1018979"/>
                <a:gd name="connsiteY8" fmla="*/ 883913 h 1018979"/>
                <a:gd name="connsiteX9" fmla="*/ 389658 w 1018979"/>
                <a:gd name="connsiteY9" fmla="*/ 883913 h 1018979"/>
                <a:gd name="connsiteX10" fmla="*/ 389658 w 1018979"/>
                <a:gd name="connsiteY10" fmla="*/ 629321 h 1018979"/>
                <a:gd name="connsiteX11" fmla="*/ 135066 w 1018979"/>
                <a:gd name="connsiteY11" fmla="*/ 629321 h 1018979"/>
                <a:gd name="connsiteX12" fmla="*/ 135066 w 1018979"/>
                <a:gd name="connsiteY12" fmla="*/ 389658 h 101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8979" h="1018979">
                  <a:moveTo>
                    <a:pt x="135066" y="389658"/>
                  </a:moveTo>
                  <a:lnTo>
                    <a:pt x="389658" y="389658"/>
                  </a:lnTo>
                  <a:lnTo>
                    <a:pt x="389658" y="135066"/>
                  </a:lnTo>
                  <a:lnTo>
                    <a:pt x="629321" y="135066"/>
                  </a:lnTo>
                  <a:lnTo>
                    <a:pt x="629321" y="389658"/>
                  </a:lnTo>
                  <a:lnTo>
                    <a:pt x="883913" y="389658"/>
                  </a:lnTo>
                  <a:lnTo>
                    <a:pt x="883913" y="629321"/>
                  </a:lnTo>
                  <a:lnTo>
                    <a:pt x="629321" y="629321"/>
                  </a:lnTo>
                  <a:lnTo>
                    <a:pt x="629321" y="883913"/>
                  </a:lnTo>
                  <a:lnTo>
                    <a:pt x="389658" y="883913"/>
                  </a:lnTo>
                  <a:lnTo>
                    <a:pt x="389658" y="629321"/>
                  </a:lnTo>
                  <a:lnTo>
                    <a:pt x="135066" y="629321"/>
                  </a:lnTo>
                  <a:lnTo>
                    <a:pt x="135066" y="389658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066" tIns="389658" rIns="135066" bIns="389658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TW" altLang="en-US" sz="1700" kern="1200"/>
            </a:p>
          </p:txBody>
        </p:sp>
        <p:sp>
          <p:nvSpPr>
            <p:cNvPr id="18" name="手繪多邊形 17"/>
            <p:cNvSpPr/>
            <p:nvPr/>
          </p:nvSpPr>
          <p:spPr>
            <a:xfrm>
              <a:off x="5017719" y="4330607"/>
              <a:ext cx="1756860" cy="1756860"/>
            </a:xfrm>
            <a:custGeom>
              <a:avLst/>
              <a:gdLst>
                <a:gd name="connsiteX0" fmla="*/ 0 w 1756860"/>
                <a:gd name="connsiteY0" fmla="*/ 878430 h 1756860"/>
                <a:gd name="connsiteX1" fmla="*/ 878430 w 1756860"/>
                <a:gd name="connsiteY1" fmla="*/ 0 h 1756860"/>
                <a:gd name="connsiteX2" fmla="*/ 1756860 w 1756860"/>
                <a:gd name="connsiteY2" fmla="*/ 878430 h 1756860"/>
                <a:gd name="connsiteX3" fmla="*/ 878430 w 1756860"/>
                <a:gd name="connsiteY3" fmla="*/ 1756860 h 1756860"/>
                <a:gd name="connsiteX4" fmla="*/ 0 w 1756860"/>
                <a:gd name="connsiteY4" fmla="*/ 878430 h 17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6860" h="1756860">
                  <a:moveTo>
                    <a:pt x="0" y="878430"/>
                  </a:moveTo>
                  <a:cubicBezTo>
                    <a:pt x="0" y="393287"/>
                    <a:pt x="393287" y="0"/>
                    <a:pt x="878430" y="0"/>
                  </a:cubicBezTo>
                  <a:cubicBezTo>
                    <a:pt x="1363573" y="0"/>
                    <a:pt x="1756860" y="393287"/>
                    <a:pt x="1756860" y="878430"/>
                  </a:cubicBezTo>
                  <a:cubicBezTo>
                    <a:pt x="1756860" y="1363573"/>
                    <a:pt x="1363573" y="1756860"/>
                    <a:pt x="878430" y="1756860"/>
                  </a:cubicBezTo>
                  <a:cubicBezTo>
                    <a:pt x="393287" y="1756860"/>
                    <a:pt x="0" y="1363573"/>
                    <a:pt x="0" y="878430"/>
                  </a:cubicBez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625132"/>
                <a:satOff val="-8440"/>
                <a:lumOff val="-1373"/>
                <a:alphaOff val="0"/>
              </a:schemeClr>
            </a:fillRef>
            <a:effectRef idx="1">
              <a:schemeClr val="accent3">
                <a:hueOff val="5625132"/>
                <a:satOff val="-8440"/>
                <a:lumOff val="-137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7766" tIns="287766" rIns="287766" bIns="287766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2400" b="1" kern="1200" dirty="0" smtClean="0"/>
                <a:t>Splitting data</a:t>
              </a:r>
              <a:endParaRPr lang="zh-TW" altLang="en-US" sz="2400" b="1" kern="1200" dirty="0"/>
            </a:p>
          </p:txBody>
        </p:sp>
        <p:sp>
          <p:nvSpPr>
            <p:cNvPr id="19" name="手繪多邊形 18"/>
            <p:cNvSpPr/>
            <p:nvPr/>
          </p:nvSpPr>
          <p:spPr>
            <a:xfrm>
              <a:off x="6925367" y="3351684"/>
              <a:ext cx="558681" cy="653552"/>
            </a:xfrm>
            <a:custGeom>
              <a:avLst/>
              <a:gdLst>
                <a:gd name="connsiteX0" fmla="*/ 0 w 558681"/>
                <a:gd name="connsiteY0" fmla="*/ 130710 h 653552"/>
                <a:gd name="connsiteX1" fmla="*/ 279341 w 558681"/>
                <a:gd name="connsiteY1" fmla="*/ 130710 h 653552"/>
                <a:gd name="connsiteX2" fmla="*/ 279341 w 558681"/>
                <a:gd name="connsiteY2" fmla="*/ 0 h 653552"/>
                <a:gd name="connsiteX3" fmla="*/ 558681 w 558681"/>
                <a:gd name="connsiteY3" fmla="*/ 326776 h 653552"/>
                <a:gd name="connsiteX4" fmla="*/ 279341 w 558681"/>
                <a:gd name="connsiteY4" fmla="*/ 653552 h 653552"/>
                <a:gd name="connsiteX5" fmla="*/ 279341 w 558681"/>
                <a:gd name="connsiteY5" fmla="*/ 522842 h 653552"/>
                <a:gd name="connsiteX6" fmla="*/ 0 w 558681"/>
                <a:gd name="connsiteY6" fmla="*/ 522842 h 653552"/>
                <a:gd name="connsiteX7" fmla="*/ 0 w 558681"/>
                <a:gd name="connsiteY7" fmla="*/ 130710 h 653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8681" h="653552">
                  <a:moveTo>
                    <a:pt x="0" y="130710"/>
                  </a:moveTo>
                  <a:lnTo>
                    <a:pt x="279341" y="130710"/>
                  </a:lnTo>
                  <a:lnTo>
                    <a:pt x="279341" y="0"/>
                  </a:lnTo>
                  <a:lnTo>
                    <a:pt x="558681" y="326776"/>
                  </a:lnTo>
                  <a:lnTo>
                    <a:pt x="279341" y="653552"/>
                  </a:lnTo>
                  <a:lnTo>
                    <a:pt x="279341" y="522842"/>
                  </a:lnTo>
                  <a:lnTo>
                    <a:pt x="0" y="522842"/>
                  </a:lnTo>
                  <a:lnTo>
                    <a:pt x="0" y="130710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1250264"/>
                <a:satOff val="-16880"/>
                <a:lumOff val="-2745"/>
                <a:alphaOff val="0"/>
              </a:schemeClr>
            </a:fillRef>
            <a:effectRef idx="1">
              <a:schemeClr val="accent3">
                <a:hueOff val="11250264"/>
                <a:satOff val="-16880"/>
                <a:lumOff val="-274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30710" rIns="167604" bIns="13071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TW" altLang="en-US" sz="2800" kern="1200"/>
            </a:p>
          </p:txBody>
        </p:sp>
      </p:grpSp>
      <p:sp>
        <p:nvSpPr>
          <p:cNvPr id="16" name="文字方塊 15"/>
          <p:cNvSpPr txBox="1"/>
          <p:nvPr/>
        </p:nvSpPr>
        <p:spPr>
          <a:xfrm>
            <a:off x="3791744" y="5940569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l"/>
            </a:pPr>
            <a:r>
              <a:rPr lang="en-US" altLang="zh-TW" sz="1600" b="1" dirty="0" smtClean="0"/>
              <a:t>Southwest/Northeast </a:t>
            </a:r>
          </a:p>
          <a:p>
            <a:pPr algn="ctr"/>
            <a:r>
              <a:rPr lang="en-US" altLang="zh-TW" sz="1600" b="1" dirty="0" smtClean="0"/>
              <a:t>monsoon dataset</a:t>
            </a:r>
            <a:endParaRPr lang="zh-TW" altLang="en-US" sz="16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551384" y="805354"/>
            <a:ext cx="24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n"/>
            </a:pPr>
            <a:r>
              <a:rPr lang="en-US" altLang="zh-TW" b="1" dirty="0">
                <a:cs typeface="Times New Roman" panose="02020603050405020304" pitchFamily="18" charset="0"/>
              </a:rPr>
              <a:t>Data Preprocessing</a:t>
            </a:r>
            <a:endParaRPr lang="zh-TW" altLang="en-US" b="1" dirty="0"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752184" y="1033572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 smtClean="0"/>
              <a:t>Model</a:t>
            </a:r>
            <a:endParaRPr lang="zh-TW" altLang="en-US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505" y="1568564"/>
            <a:ext cx="3997821" cy="4378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825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39">
        <p:strips dir="ru"/>
      </p:transition>
    </mc:Choice>
    <mc:Fallback xmlns="">
      <p:transition spd="slow" advTm="20039">
        <p:strips dir="r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12" grpId="0"/>
      <p:bldP spid="13" grpId="0" animBg="1"/>
      <p:bldP spid="14" grpId="0" animBg="1"/>
      <p:bldP spid="16" grpId="0"/>
      <p:bldP spid="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4" y="0"/>
            <a:ext cx="12176935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9138" y="0"/>
            <a:ext cx="10753725" cy="6285589"/>
          </a:xfrm>
          <a:prstGeom prst="rect">
            <a:avLst/>
          </a:prstGeom>
          <a:solidFill>
            <a:srgbClr val="FF8040">
              <a:alpha val="39216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  <a:endParaRPr lang="zh-TW" altLang="en-US" sz="1350">
              <a:solidFill>
                <a:srgbClr val="000000"/>
              </a:solidFill>
              <a:latin typeface="Segoe Prin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9137" y="5212969"/>
            <a:ext cx="10972800" cy="131237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725" tIns="85725" rIns="85725" bIns="85725" rtlCol="0" anchor="ctr"/>
          <a:lstStyle/>
          <a:p>
            <a:pPr algn="ctr">
              <a:lnSpc>
                <a:spcPct val="125000"/>
              </a:lnSpc>
            </a:pPr>
            <a:r>
              <a:rPr lang="en-US" altLang="zh-TW" sz="2000" b="1" dirty="0" smtClean="0">
                <a:solidFill>
                  <a:srgbClr val="FFFFFF"/>
                </a:solidFill>
                <a:cs typeface="Times New Roman" panose="02020603050405020304" pitchFamily="18" charset="0"/>
              </a:rPr>
              <a:t>Dataset: </a:t>
            </a:r>
            <a:r>
              <a:rPr lang="en-US" altLang="zh-TW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2021/10/01 00:00 ~ 2022/04/30 23:00 (Northeast monsoon)</a:t>
            </a:r>
          </a:p>
          <a:p>
            <a:pPr algn="ctr">
              <a:lnSpc>
                <a:spcPct val="125000"/>
              </a:lnSpc>
            </a:pPr>
            <a:r>
              <a:rPr lang="en-US" altLang="zh-TW" sz="2000" b="1" dirty="0">
                <a:solidFill>
                  <a:srgbClr val="FFFFFF"/>
                </a:solidFill>
                <a:cs typeface="Times New Roman" panose="02020603050405020304" pitchFamily="18" charset="0"/>
              </a:rPr>
              <a:t>(Using the </a:t>
            </a:r>
            <a:r>
              <a:rPr lang="en-US" altLang="zh-TW" sz="2000" b="1" dirty="0" smtClean="0">
                <a:solidFill>
                  <a:srgbClr val="92D050"/>
                </a:solidFill>
                <a:cs typeface="Times New Roman" panose="02020603050405020304" pitchFamily="18" charset="0"/>
              </a:rPr>
              <a:t>past </a:t>
            </a:r>
            <a:r>
              <a:rPr lang="en-US" altLang="zh-TW" sz="2000" b="1" dirty="0">
                <a:solidFill>
                  <a:srgbClr val="92D050"/>
                </a:solidFill>
                <a:cs typeface="Times New Roman" panose="02020603050405020304" pitchFamily="18" charset="0"/>
              </a:rPr>
              <a:t>3 hours </a:t>
            </a:r>
            <a:r>
              <a:rPr lang="en-US" altLang="zh-TW" sz="2000" b="1" dirty="0">
                <a:solidFill>
                  <a:srgbClr val="FFFFFF"/>
                </a:solidFill>
                <a:cs typeface="Times New Roman" panose="02020603050405020304" pitchFamily="18" charset="0"/>
              </a:rPr>
              <a:t>of data </a:t>
            </a:r>
            <a:r>
              <a:rPr lang="en-US" altLang="zh-TW" sz="2000" b="1" dirty="0" smtClean="0">
                <a:solidFill>
                  <a:srgbClr val="FFFFFF"/>
                </a:solidFill>
                <a:cs typeface="Times New Roman" panose="02020603050405020304" pitchFamily="18" charset="0"/>
              </a:rPr>
              <a:t>to predict the </a:t>
            </a:r>
            <a:r>
              <a:rPr lang="en-US" altLang="zh-TW" sz="2000" b="1" dirty="0" smtClean="0">
                <a:solidFill>
                  <a:srgbClr val="92D050"/>
                </a:solidFill>
                <a:cs typeface="Times New Roman" panose="02020603050405020304" pitchFamily="18" charset="0"/>
              </a:rPr>
              <a:t>next 1 hour</a:t>
            </a:r>
            <a:r>
              <a:rPr lang="en-US" altLang="zh-TW" sz="2000" b="1" dirty="0" smtClean="0">
                <a:solidFill>
                  <a:srgbClr val="FFFFFF"/>
                </a:solidFill>
                <a:cs typeface="Times New Roman" panose="02020603050405020304" pitchFamily="18" charset="0"/>
              </a:rPr>
              <a:t>)</a:t>
            </a:r>
            <a:endParaRPr lang="en-US" altLang="zh-TW" sz="2000" b="1" dirty="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8"/>
          <a:stretch/>
        </p:blipFill>
        <p:spPr bwMode="auto">
          <a:xfrm>
            <a:off x="719138" y="978408"/>
            <a:ext cx="10684239" cy="4538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 rot="10800000">
            <a:off x="335360" y="2708920"/>
            <a:ext cx="400110" cy="78173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AQI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208568" y="5271011"/>
            <a:ext cx="885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(Hours)</a:t>
            </a:r>
            <a:endParaRPr lang="zh-TW" altLang="en-US" sz="1000" dirty="0"/>
          </a:p>
        </p:txBody>
      </p:sp>
      <p:sp>
        <p:nvSpPr>
          <p:cNvPr id="2" name="文字方塊 1"/>
          <p:cNvSpPr txBox="1"/>
          <p:nvPr/>
        </p:nvSpPr>
        <p:spPr>
          <a:xfrm>
            <a:off x="5072041" y="182484"/>
            <a:ext cx="2266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solidFill>
                  <a:srgbClr val="FFFFFF"/>
                </a:solidFill>
                <a:ea typeface="微軟正黑體"/>
              </a:rPr>
              <a:t>Results</a:t>
            </a:r>
            <a:endParaRPr lang="zh-TW" altLang="en-US" sz="4000" b="1" dirty="0">
              <a:solidFill>
                <a:srgbClr val="FFFFFF"/>
              </a:solidFill>
              <a:ea typeface="微軟正黑體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193290"/>
      </p:ext>
    </p:extLst>
  </p:cSld>
  <p:clrMapOvr>
    <a:masterClrMapping/>
  </p:clrMapOvr>
  <p:transition spd="slow" advTm="6762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4" y="0"/>
            <a:ext cx="12176935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9138" y="0"/>
            <a:ext cx="10753725" cy="6181725"/>
          </a:xfrm>
          <a:prstGeom prst="rect">
            <a:avLst/>
          </a:prstGeom>
          <a:solidFill>
            <a:srgbClr val="FF8040">
              <a:alpha val="39216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 algn="ctr"/>
            <a:r>
              <a:rPr lang="zh-TW" altLang="en-US" sz="1350" dirty="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dirty="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dirty="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dirty="0" smtClean="0">
                <a:solidFill>
                  <a:srgbClr val="000000"/>
                </a:solidFill>
                <a:latin typeface="Segoe Print"/>
              </a:rPr>
              <a:t> </a:t>
            </a:r>
            <a:endParaRPr lang="zh-TW" altLang="en-US" sz="1350" dirty="0">
              <a:solidFill>
                <a:srgbClr val="000000"/>
              </a:solidFill>
              <a:latin typeface="Segoe Prin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23609" y="454994"/>
            <a:ext cx="4544782" cy="71403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4400" b="1" dirty="0" smtClean="0">
                <a:solidFill>
                  <a:srgbClr val="FFFFFF"/>
                </a:solidFill>
                <a:latin typeface="+mj-lt"/>
                <a:ea typeface="微軟正黑體"/>
              </a:rPr>
              <a:t>Results</a:t>
            </a:r>
            <a:endParaRPr lang="zh-TW" altLang="en-US" sz="4400" b="1" dirty="0">
              <a:solidFill>
                <a:srgbClr val="FFFFFF"/>
              </a:solidFill>
              <a:latin typeface="+mj-lt"/>
              <a:ea typeface="微軟正黑體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700641" y="4931607"/>
            <a:ext cx="8856984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b="1" dirty="0" smtClean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The </a:t>
            </a:r>
            <a:r>
              <a:rPr lang="en-US" altLang="zh-TW" b="1" dirty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results of this study evaluated both models using root mean square error (RMSE), mean absolute error (MAE), and mean absolute percentage error (MAPE). </a:t>
            </a:r>
            <a:endParaRPr lang="en-US" altLang="zh-TW" b="1" dirty="0" smtClean="0">
              <a:solidFill>
                <a:schemeClr val="bg1"/>
              </a:solidFill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84676"/>
              </p:ext>
            </p:extLst>
          </p:nvPr>
        </p:nvGraphicFramePr>
        <p:xfrm>
          <a:off x="6240016" y="1772816"/>
          <a:ext cx="4800799" cy="2788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886"/>
                <a:gridCol w="1034018"/>
                <a:gridCol w="941695"/>
                <a:gridCol w="1200200"/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GCN-LSTM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3hr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1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1hr later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3.1903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2.3181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4.4209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1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2hr later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5.7727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4.2287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7.7201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1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3hr</a:t>
                      </a:r>
                      <a:r>
                        <a:rPr lang="en-US" altLang="zh-TW" b="1" baseline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later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8.5973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6.4668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12.0718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127687"/>
              </p:ext>
            </p:extLst>
          </p:nvPr>
        </p:nvGraphicFramePr>
        <p:xfrm>
          <a:off x="1127448" y="1772816"/>
          <a:ext cx="4756668" cy="27884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09949"/>
                <a:gridCol w="1024513"/>
                <a:gridCol w="933039"/>
                <a:gridCol w="1189167"/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3hr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</a:p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1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1hr later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3.8938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2.7056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4.6262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1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2hr later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6.9457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4.9455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8.3244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1611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3hr</a:t>
                      </a:r>
                      <a:r>
                        <a:rPr lang="en-US" altLang="zh-TW" b="1" baseline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later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9.6321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6.9617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12.6157</a:t>
                      </a:r>
                      <a:endParaRPr lang="zh-TW" altLang="en-US" sz="1800" b="1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11"/>
          <a:stretch/>
        </p:blipFill>
        <p:spPr>
          <a:xfrm>
            <a:off x="8040216" y="778598"/>
            <a:ext cx="1118070" cy="955822"/>
          </a:xfrm>
          <a:prstGeom prst="rect">
            <a:avLst/>
          </a:prstGeom>
        </p:spPr>
      </p:pic>
      <p:sp>
        <p:nvSpPr>
          <p:cNvPr id="12" name="Google Shape;672;p32"/>
          <p:cNvSpPr txBox="1">
            <a:spLocks noGrp="1"/>
          </p:cNvSpPr>
          <p:nvPr>
            <p:ph type="title" idx="4294967295"/>
          </p:nvPr>
        </p:nvSpPr>
        <p:spPr>
          <a:xfrm>
            <a:off x="1919536" y="1412776"/>
            <a:ext cx="8229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400" b="1" dirty="0" smtClean="0">
                <a:solidFill>
                  <a:srgbClr val="000000"/>
                </a:solidFill>
                <a:latin typeface="Titan One"/>
                <a:ea typeface="Titan One"/>
                <a:cs typeface="Titan One"/>
                <a:sym typeface="Titan One"/>
              </a:rPr>
              <a:t>(Tainan)</a:t>
            </a:r>
            <a:r>
              <a:rPr lang="en" sz="2400" b="1" dirty="0">
                <a:solidFill>
                  <a:srgbClr val="000000"/>
                </a:solidFill>
                <a:latin typeface="Titan One"/>
                <a:ea typeface="Titan One"/>
                <a:cs typeface="Titan One"/>
                <a:sym typeface="Titan One"/>
              </a:rPr>
              <a:t/>
            </a:r>
            <a:br>
              <a:rPr lang="en" sz="2400" b="1" dirty="0">
                <a:solidFill>
                  <a:srgbClr val="000000"/>
                </a:solidFill>
                <a:latin typeface="Titan One"/>
                <a:ea typeface="Titan One"/>
                <a:cs typeface="Titan One"/>
                <a:sym typeface="Titan One"/>
              </a:rPr>
            </a:br>
            <a:endParaRPr sz="2400" b="1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9832758"/>
      </p:ext>
    </p:extLst>
  </p:cSld>
  <p:clrMapOvr>
    <a:masterClrMapping/>
  </p:clrMapOvr>
  <p:transition spd="slow" advTm="11853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1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4" y="0"/>
            <a:ext cx="12176935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9138" y="1"/>
            <a:ext cx="10753725" cy="6857999"/>
          </a:xfrm>
          <a:prstGeom prst="rect">
            <a:avLst/>
          </a:prstGeom>
          <a:solidFill>
            <a:srgbClr val="FF8040">
              <a:alpha val="39216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</a:p>
          <a:p>
            <a:pPr algn="ctr"/>
            <a:r>
              <a:rPr lang="zh-TW" altLang="en-US" sz="1350" smtClean="0">
                <a:solidFill>
                  <a:srgbClr val="000000"/>
                </a:solidFill>
                <a:latin typeface="Segoe Print"/>
              </a:rPr>
              <a:t> </a:t>
            </a:r>
            <a:endParaRPr lang="zh-TW" altLang="en-US" sz="1350">
              <a:solidFill>
                <a:srgbClr val="000000"/>
              </a:solidFill>
              <a:latin typeface="Segoe Print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2799977" y="3068960"/>
            <a:ext cx="6546229" cy="3559324"/>
            <a:chOff x="1980162" y="1030259"/>
            <a:chExt cx="8206191" cy="5005818"/>
          </a:xfrm>
        </p:grpSpPr>
        <p:pic>
          <p:nvPicPr>
            <p:cNvPr id="4" name="圖片 3"/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0162" y="1030259"/>
              <a:ext cx="8206191" cy="5005818"/>
            </a:xfrm>
            <a:prstGeom prst="rect">
              <a:avLst/>
            </a:prstGeom>
          </p:spPr>
        </p:pic>
        <p:sp>
          <p:nvSpPr>
            <p:cNvPr id="6" name="手繪多邊形 5"/>
            <p:cNvSpPr/>
            <p:nvPr/>
          </p:nvSpPr>
          <p:spPr>
            <a:xfrm>
              <a:off x="4137897" y="4027269"/>
              <a:ext cx="1240275" cy="769505"/>
            </a:xfrm>
            <a:custGeom>
              <a:avLst/>
              <a:gdLst/>
              <a:ahLst/>
              <a:cxnLst/>
              <a:rect l="0" t="0" r="0" b="0"/>
              <a:pathLst>
                <a:path w="1240275" h="769505">
                  <a:moveTo>
                    <a:pt x="1119150" y="0"/>
                  </a:moveTo>
                  <a:cubicBezTo>
                    <a:pt x="1112575" y="2413"/>
                    <a:pt x="1106002" y="4825"/>
                    <a:pt x="1099427" y="7237"/>
                  </a:cubicBezTo>
                  <a:cubicBezTo>
                    <a:pt x="1139803" y="107774"/>
                    <a:pt x="1180177" y="208312"/>
                    <a:pt x="1220552" y="308849"/>
                  </a:cubicBezTo>
                  <a:cubicBezTo>
                    <a:pt x="1227126" y="306437"/>
                    <a:pt x="1233700" y="304025"/>
                    <a:pt x="1240274" y="301613"/>
                  </a:cubicBezTo>
                  <a:cubicBezTo>
                    <a:pt x="1199899" y="201075"/>
                    <a:pt x="1120082" y="115010"/>
                    <a:pt x="1079707" y="14473"/>
                  </a:cubicBezTo>
                  <a:lnTo>
                    <a:pt x="1040265" y="28945"/>
                  </a:lnTo>
                  <a:cubicBezTo>
                    <a:pt x="1080639" y="129482"/>
                    <a:pt x="1121014" y="230020"/>
                    <a:pt x="1161389" y="330558"/>
                  </a:cubicBezTo>
                  <a:cubicBezTo>
                    <a:pt x="1174536" y="325734"/>
                    <a:pt x="1187684" y="320910"/>
                    <a:pt x="1200831" y="316086"/>
                  </a:cubicBezTo>
                  <a:cubicBezTo>
                    <a:pt x="1160456" y="215548"/>
                    <a:pt x="1060918" y="136719"/>
                    <a:pt x="1020544" y="36181"/>
                  </a:cubicBezTo>
                  <a:cubicBezTo>
                    <a:pt x="765355" y="129816"/>
                    <a:pt x="510166" y="223450"/>
                    <a:pt x="254978" y="317084"/>
                  </a:cubicBezTo>
                  <a:cubicBezTo>
                    <a:pt x="234790" y="266816"/>
                    <a:pt x="214603" y="216547"/>
                    <a:pt x="194416" y="166278"/>
                  </a:cubicBezTo>
                  <a:cubicBezTo>
                    <a:pt x="129611" y="305408"/>
                    <a:pt x="64806" y="444539"/>
                    <a:pt x="0" y="583669"/>
                  </a:cubicBezTo>
                  <a:cubicBezTo>
                    <a:pt x="145555" y="645614"/>
                    <a:pt x="291109" y="707558"/>
                    <a:pt x="436664" y="769504"/>
                  </a:cubicBezTo>
                  <a:cubicBezTo>
                    <a:pt x="416477" y="719235"/>
                    <a:pt x="396289" y="668966"/>
                    <a:pt x="376102" y="618697"/>
                  </a:cubicBezTo>
                  <a:cubicBezTo>
                    <a:pt x="631291" y="525063"/>
                    <a:pt x="886479" y="431429"/>
                    <a:pt x="1141667" y="337794"/>
                  </a:cubicBezTo>
                </a:path>
              </a:pathLst>
            </a:custGeom>
            <a:solidFill>
              <a:srgbClr val="000000"/>
            </a:solidFill>
            <a:ln w="9525" cap="flat" cmpd="sng" algn="ctr">
              <a:solidFill>
                <a:srgbClr val="E7E6E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85725" tIns="85725" rIns="85725" bIns="85725" rtlCol="0" anchor="ctr"/>
            <a:lstStyle/>
            <a:p>
              <a:r>
                <a:rPr lang="zh-TW" altLang="en-US" sz="1350" smtClean="0">
                  <a:solidFill>
                    <a:srgbClr val="000000"/>
                  </a:solidFill>
                  <a:latin typeface="Arial"/>
                </a:rPr>
                <a:t> </a:t>
              </a:r>
              <a:endParaRPr lang="zh-TW" altLang="en-US" sz="135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980163" y="5582475"/>
              <a:ext cx="2285160" cy="45360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chemeClr val="accent1">
                  <a:shade val="50000"/>
                </a:schemeClr>
              </a:solidFill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5725" tIns="85725" rIns="85725" bIns="85725" rtlCol="0" anchor="ctr"/>
            <a:lstStyle/>
            <a:p>
              <a:pPr algn="ctr"/>
              <a:r>
                <a:rPr lang="en-US" altLang="zh-TW" sz="1350" b="1" dirty="0" smtClean="0">
                  <a:solidFill>
                    <a:srgbClr val="000000"/>
                  </a:solidFill>
                  <a:latin typeface="Arial"/>
                </a:rPr>
                <a:t>Timeline</a:t>
              </a:r>
              <a:endParaRPr lang="zh-TW" altLang="en-US" sz="1350" b="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3810866" y="410714"/>
            <a:ext cx="4544782" cy="71403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r>
              <a:rPr lang="en-US" altLang="zh-TW" sz="4000" b="1" dirty="0">
                <a:solidFill>
                  <a:srgbClr val="FFFFFF"/>
                </a:solidFill>
                <a:latin typeface="+mj-lt"/>
                <a:ea typeface="微軟正黑體"/>
              </a:rPr>
              <a:t> </a:t>
            </a:r>
            <a:r>
              <a:rPr lang="en-US" altLang="zh-TW" sz="4000" b="1" dirty="0" smtClean="0">
                <a:solidFill>
                  <a:srgbClr val="FFFFFF"/>
                </a:solidFill>
                <a:latin typeface="+mj-lt"/>
                <a:ea typeface="微軟正黑體"/>
                <a:cs typeface="Times New Roman" panose="02020603050405020304" pitchFamily="18" charset="0"/>
              </a:rPr>
              <a:t>Future works</a:t>
            </a:r>
            <a:endParaRPr lang="zh-TW" altLang="en-US" sz="4000" b="1" dirty="0">
              <a:solidFill>
                <a:srgbClr val="FFFFFF"/>
              </a:solidFill>
              <a:latin typeface="+mj-lt"/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644598" y="1124744"/>
            <a:ext cx="9194851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b="1" dirty="0" smtClean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Add </a:t>
            </a:r>
            <a:r>
              <a:rPr lang="en-US" altLang="zh-TW" sz="2000" b="1" dirty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more </a:t>
            </a:r>
            <a:r>
              <a:rPr lang="en-US" altLang="zh-TW" sz="2000" b="1" dirty="0" smtClean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nodes and features: </a:t>
            </a:r>
            <a:r>
              <a:rPr lang="en-US" altLang="zh-TW" sz="1900" b="1" dirty="0" smtClean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Highly </a:t>
            </a:r>
            <a:r>
              <a:rPr lang="en-US" altLang="zh-TW" sz="1900" b="1" dirty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correlated with air quality, such as PM2.5, O3, wind direction, </a:t>
            </a:r>
            <a:r>
              <a:rPr lang="en-US" altLang="zh-TW" sz="1900" b="1" dirty="0" smtClean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etc.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b="1" dirty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Data visualization: </a:t>
            </a:r>
            <a:r>
              <a:rPr lang="en-US" altLang="zh-TW" sz="1900" b="1" dirty="0">
                <a:solidFill>
                  <a:schemeClr val="bg1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Using PHP and MySQL tools to present website information in the WordPress framework and apply it to the Leaflet map.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zh-TW" altLang="en-US" sz="1900" b="1" dirty="0">
              <a:solidFill>
                <a:schemeClr val="bg1"/>
              </a:solidFill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055989"/>
              </p:ext>
            </p:extLst>
          </p:nvPr>
        </p:nvGraphicFramePr>
        <p:xfrm>
          <a:off x="6168008" y="3429000"/>
          <a:ext cx="3080740" cy="777240"/>
        </p:xfrm>
        <a:graphic>
          <a:graphicData uri="http://schemas.openxmlformats.org/drawingml/2006/table">
            <a:tbl>
              <a:tblPr/>
              <a:tblGrid>
                <a:gridCol w="616148"/>
                <a:gridCol w="616148"/>
                <a:gridCol w="616148"/>
                <a:gridCol w="616148"/>
                <a:gridCol w="616148"/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AQI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100" b="1" i="0" u="none" strike="noStrike">
                          <a:solidFill>
                            <a:srgbClr val="FFFFFF"/>
                          </a:solidFill>
                          <a:effectLst/>
                          <a:latin typeface="Microsoft JhengHei"/>
                        </a:rPr>
                        <a:t>0-50</a:t>
                      </a:r>
                      <a:endParaRPr lang="zh-TW" altLang="en-US">
                        <a:effectLst/>
                      </a:endParaRP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5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JhengHei"/>
                        </a:rPr>
                        <a:t>51-100</a:t>
                      </a:r>
                      <a:endParaRPr lang="zh-TW" altLang="en-US" dirty="0">
                        <a:effectLst/>
                      </a:endParaRP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5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JhengHei"/>
                        </a:rPr>
                        <a:t>101-150</a:t>
                      </a:r>
                      <a:endParaRPr lang="zh-TW" altLang="en-US" dirty="0">
                        <a:effectLst/>
                      </a:endParaRP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5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100" b="1" i="0" u="none" strike="noStrike">
                          <a:solidFill>
                            <a:srgbClr val="FFFFFF"/>
                          </a:solidFill>
                          <a:effectLst/>
                          <a:latin typeface="Microsoft JhengHei"/>
                        </a:rPr>
                        <a:t>&gt;150</a:t>
                      </a:r>
                      <a:endParaRPr lang="zh-TW" altLang="en-US">
                        <a:effectLst/>
                      </a:endParaRPr>
                    </a:p>
                  </a:txBody>
                  <a:tcPr marL="38100" marR="381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353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Microsoft JhengHei"/>
                        </a:rPr>
                        <a:t>Color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4743450" y="3382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0" r="31537"/>
          <a:stretch/>
        </p:blipFill>
        <p:spPr bwMode="auto">
          <a:xfrm>
            <a:off x="5735960" y="4301498"/>
            <a:ext cx="3525330" cy="216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7318049"/>
      </p:ext>
    </p:extLst>
  </p:cSld>
  <p:clrMapOvr>
    <a:masterClrMapping/>
  </p:clrMapOvr>
  <p:transition spd="slow" advTm="14551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25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4706626" cy="6524625"/>
          </a:xfrm>
          <a:prstGeom prst="rect">
            <a:avLst/>
          </a:prstGeom>
          <a:solidFill>
            <a:srgbClr val="FFFFFF">
              <a:alpha val="47059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2711624" y="2996952"/>
            <a:ext cx="7051814" cy="93610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625" tIns="47625" rIns="47625" bIns="47625" rtlCol="0" anchor="t"/>
          <a:lstStyle/>
          <a:p>
            <a:pPr algn="ctr"/>
            <a:r>
              <a:rPr lang="en-US" altLang="zh-TW" sz="4950" b="1" dirty="0" smtClean="0">
                <a:solidFill>
                  <a:srgbClr val="000000"/>
                </a:solidFill>
                <a:latin typeface="+mj-lt"/>
              </a:rPr>
              <a:t>Thank You For Listening</a:t>
            </a:r>
            <a:endParaRPr lang="zh-TW" altLang="en-US" sz="4950" b="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2856150"/>
      </p:ext>
    </p:extLst>
  </p:cSld>
  <p:clrMapOvr>
    <a:masterClrMapping/>
  </p:clrMapOvr>
  <p:transition spd="slow" advTm="8559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5.7|3.2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.3|1.8|1.4|1.2|1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4.7|1.4|3.8|6.7|14.3|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2.4|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2|2.2|1.9|1.2|1.5|1.4|1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4349</TotalTime>
  <Words>381</Words>
  <Application>Microsoft Office PowerPoint</Application>
  <PresentationFormat>自訂</PresentationFormat>
  <Paragraphs>208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(Tainan) </vt:lpstr>
      <vt:lpstr>PowerPoint 簡報</vt:lpstr>
      <vt:lpstr>PowerPoint 簡報</vt:lpstr>
    </vt:vector>
  </TitlesOfParts>
  <Company>Invensys INC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</dc:title>
  <dc:creator>Emily</dc:creator>
  <cp:lastModifiedBy>Emily</cp:lastModifiedBy>
  <cp:revision>302</cp:revision>
  <dcterms:created xsi:type="dcterms:W3CDTF">2022-10-20T10:25:43Z</dcterms:created>
  <dcterms:modified xsi:type="dcterms:W3CDTF">2022-12-30T05:31:56Z</dcterms:modified>
</cp:coreProperties>
</file>